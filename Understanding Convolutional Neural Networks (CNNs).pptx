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ppm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4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03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8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8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3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9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4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8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7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1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9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6E813-F3BF-4C0B-84F6-0993161632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D0303-067C-46B5-B1AE-180A23C57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6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pm"/><Relationship Id="rId2" Type="http://schemas.openxmlformats.org/officeDocument/2006/relationships/hyperlink" Target="https://go.exlibris.link/1hvjCCT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ditor.analyticsvidhya.com/uploads/75059FC.png" TargetMode="External"/><Relationship Id="rId2" Type="http://schemas.openxmlformats.org/officeDocument/2006/relationships/hyperlink" Target="https://go.exlibris.link/1hvjCCTL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ublication/328091629/figure/fig1/AS:678212644401153@1538709903556/Basic-block-diagram-of-ResNet.pp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60" y="319723"/>
            <a:ext cx="11511280" cy="2387600"/>
          </a:xfrm>
        </p:spPr>
        <p:txBody>
          <a:bodyPr/>
          <a:lstStyle/>
          <a:p>
            <a:r>
              <a:rPr lang="en-US" b="1" dirty="0" smtClean="0"/>
              <a:t>Understanding Convolutional Neural Networks (CNNs)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82278"/>
            <a:ext cx="9144000" cy="165576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ANTHONY EDDEI KWOFIE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MSc </a:t>
            </a:r>
            <a:r>
              <a:rPr lang="en-US" dirty="0" smtClean="0"/>
              <a:t>Artificial Intelligence And Data Science – </a:t>
            </a:r>
            <a:r>
              <a:rPr lang="en-US" dirty="0"/>
              <a:t>University of Hull</a:t>
            </a:r>
            <a:br>
              <a:rPr lang="en-US" dirty="0"/>
            </a:br>
            <a:r>
              <a:rPr lang="en-US" dirty="0"/>
              <a:t>30 October 2025</a:t>
            </a:r>
          </a:p>
        </p:txBody>
      </p:sp>
    </p:spTree>
    <p:extLst>
      <p:ext uri="{BB962C8B-B14F-4D97-AF65-F5344CB8AC3E}">
        <p14:creationId xmlns:p14="http://schemas.microsoft.com/office/powerpoint/2010/main" val="214895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What is a CNN?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400" y="1788280"/>
            <a:ext cx="5674360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CNNs</a:t>
            </a:r>
            <a:r>
              <a:rPr lang="en-US" dirty="0" smtClean="0"/>
              <a:t> are deep learning models built to </a:t>
            </a:r>
            <a:r>
              <a:rPr lang="en-US" dirty="0" err="1" smtClean="0"/>
              <a:t>analyse</a:t>
            </a:r>
            <a:r>
              <a:rPr lang="en-US" dirty="0" smtClean="0"/>
              <a:t> visual data or images.</a:t>
            </a:r>
          </a:p>
          <a:p>
            <a:r>
              <a:rPr lang="en-US" b="1" dirty="0" smtClean="0"/>
              <a:t>Convolution layers </a:t>
            </a:r>
            <a:r>
              <a:rPr lang="en-US" dirty="0" smtClean="0"/>
              <a:t>identify simple visual patterns such as edges and textures.</a:t>
            </a:r>
          </a:p>
          <a:p>
            <a:r>
              <a:rPr lang="en-US" b="1" dirty="0" smtClean="0"/>
              <a:t>Pooling layers </a:t>
            </a:r>
            <a:r>
              <a:rPr lang="en-US" dirty="0" smtClean="0"/>
              <a:t>reduce data size while keeping key information.</a:t>
            </a:r>
          </a:p>
          <a:p>
            <a:r>
              <a:rPr lang="en-US" b="1" dirty="0" smtClean="0"/>
              <a:t>Fully connected layers </a:t>
            </a:r>
            <a:r>
              <a:rPr lang="en-US" dirty="0" smtClean="0"/>
              <a:t>turn those features into predictions.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464992" y="1388170"/>
            <a:ext cx="3888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 smtClean="0"/>
              <a:t>CNN structure diagram</a:t>
            </a:r>
            <a:endParaRPr lang="en-US" sz="20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313" y="1885872"/>
            <a:ext cx="5696527" cy="267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7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365125"/>
            <a:ext cx="10515600" cy="1325563"/>
          </a:xfrm>
        </p:spPr>
        <p:txBody>
          <a:bodyPr/>
          <a:lstStyle/>
          <a:p>
            <a:r>
              <a:rPr lang="en-US" b="1" dirty="0" smtClean="0"/>
              <a:t>Case Study: Deep Residual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690688"/>
            <a:ext cx="641604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Paper</a:t>
            </a:r>
            <a:r>
              <a:rPr lang="en-US" b="1" dirty="0"/>
              <a:t>:</a:t>
            </a:r>
            <a:r>
              <a:rPr lang="en-US" dirty="0"/>
              <a:t> He, K., Zhang, X., Ren, S., &amp; Sun, J. (2015)</a:t>
            </a:r>
            <a:br>
              <a:rPr lang="en-US" dirty="0"/>
            </a:br>
            <a:r>
              <a:rPr lang="en-US" i="1" dirty="0"/>
              <a:t>Deep Residual Learning for Image Recognition.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Available at: </a:t>
            </a:r>
            <a:r>
              <a:rPr lang="en-US" u="sng" dirty="0" smtClean="0">
                <a:hlinkClick r:id="rId2"/>
              </a:rPr>
              <a:t>https://go.exlibris.link/1hvjCCTL</a:t>
            </a: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r>
              <a:rPr lang="en-US" b="1" dirty="0" smtClean="0"/>
              <a:t>Goal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smtClean="0"/>
              <a:t>Make deep CNNs easier to train.</a:t>
            </a:r>
          </a:p>
          <a:p>
            <a:r>
              <a:rPr lang="en-US" b="1" dirty="0" smtClean="0"/>
              <a:t>Dataset</a:t>
            </a:r>
            <a:r>
              <a:rPr lang="en-US" b="1" dirty="0"/>
              <a:t>:</a:t>
            </a:r>
            <a:r>
              <a:rPr lang="en-US" dirty="0"/>
              <a:t> ImageNet </a:t>
            </a:r>
            <a:r>
              <a:rPr lang="en-US" dirty="0" smtClean="0"/>
              <a:t>(over 1 million images).</a:t>
            </a:r>
          </a:p>
          <a:p>
            <a:r>
              <a:rPr lang="en-US" b="1" dirty="0" smtClean="0"/>
              <a:t>Model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ResNet</a:t>
            </a:r>
            <a:r>
              <a:rPr lang="en-US" dirty="0"/>
              <a:t> (Residual Network).</a:t>
            </a:r>
          </a:p>
          <a:p>
            <a:pPr lvl="0"/>
            <a:r>
              <a:rPr lang="en-US" b="1" dirty="0"/>
              <a:t>Result:</a:t>
            </a:r>
            <a:r>
              <a:rPr lang="en-US" dirty="0"/>
              <a:t> </a:t>
            </a:r>
            <a:r>
              <a:rPr lang="en-US" dirty="0" smtClean="0"/>
              <a:t>Achieved top performance with 96% top-5 accuracy.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61300" y="1690688"/>
            <a:ext cx="3373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i="1" u="sng" dirty="0" err="1" smtClean="0"/>
              <a:t>ResNet</a:t>
            </a:r>
            <a:r>
              <a:rPr lang="en-US" sz="2000" b="1" i="1" u="sng" dirty="0" smtClean="0"/>
              <a:t> block diagram)</a:t>
            </a:r>
            <a:endParaRPr lang="en-US" sz="20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391" y="2285207"/>
            <a:ext cx="44958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1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CNNs Were Suitable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Automatically </a:t>
            </a:r>
            <a:r>
              <a:rPr lang="en-US" dirty="0"/>
              <a:t>extract image features.</a:t>
            </a:r>
          </a:p>
          <a:p>
            <a:pPr lvl="0"/>
            <a:r>
              <a:rPr lang="en-US" dirty="0"/>
              <a:t>Efficient with large datasets.</a:t>
            </a:r>
          </a:p>
          <a:p>
            <a:pPr lvl="0"/>
            <a:r>
              <a:rPr lang="en-US" dirty="0"/>
              <a:t>Reduce need for manual feature selection.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4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5044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Ethical Issue: Bias in CNNs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" y="1376003"/>
            <a:ext cx="62230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Ethical </a:t>
            </a:r>
            <a:r>
              <a:rPr lang="en-US" b="1" dirty="0"/>
              <a:t>Concern:</a:t>
            </a:r>
            <a:r>
              <a:rPr lang="en-US" dirty="0"/>
              <a:t> Bias in facial recognition</a:t>
            </a:r>
          </a:p>
          <a:p>
            <a:pPr lvl="0"/>
            <a:r>
              <a:rPr lang="en-US" dirty="0"/>
              <a:t>Training data may not include all demographic groups equally.</a:t>
            </a:r>
          </a:p>
          <a:p>
            <a:pPr lvl="0"/>
            <a:r>
              <a:rPr lang="en-US" dirty="0"/>
              <a:t>Could result in unfair predictions</a:t>
            </a:r>
            <a:r>
              <a:rPr lang="en-US" dirty="0" smtClean="0"/>
              <a:t>.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Solution:</a:t>
            </a:r>
            <a:r>
              <a:rPr lang="en-US" dirty="0"/>
              <a:t> Use diverse datasets and evaluate fairness.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620" y="1376003"/>
            <a:ext cx="3320472" cy="498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9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Reflection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My </a:t>
            </a:r>
            <a:r>
              <a:rPr lang="en-US" b="1" dirty="0"/>
              <a:t>CNN </a:t>
            </a:r>
            <a:r>
              <a:rPr lang="en-US" b="1" dirty="0" smtClean="0"/>
              <a:t>Experience</a:t>
            </a:r>
          </a:p>
          <a:p>
            <a:pPr lvl="0"/>
            <a:r>
              <a:rPr lang="en-US" b="1" dirty="0" smtClean="0"/>
              <a:t>What</a:t>
            </a:r>
            <a:r>
              <a:rPr lang="en-US" b="1" dirty="0"/>
              <a:t>?</a:t>
            </a:r>
            <a:r>
              <a:rPr lang="en-US" dirty="0"/>
              <a:t> Built a CNN to classify MNIST digits.</a:t>
            </a:r>
          </a:p>
          <a:p>
            <a:pPr lvl="0"/>
            <a:r>
              <a:rPr lang="en-US" b="1" dirty="0"/>
              <a:t>How?</a:t>
            </a:r>
            <a:r>
              <a:rPr lang="en-US" dirty="0"/>
              <a:t> Used </a:t>
            </a:r>
            <a:r>
              <a:rPr lang="en-US" dirty="0" err="1"/>
              <a:t>Keras</a:t>
            </a:r>
            <a:r>
              <a:rPr lang="en-US" dirty="0"/>
              <a:t> and experimented with layers.</a:t>
            </a:r>
          </a:p>
          <a:p>
            <a:pPr lvl="0"/>
            <a:r>
              <a:rPr lang="en-US" b="1" dirty="0"/>
              <a:t>Why?</a:t>
            </a:r>
            <a:r>
              <a:rPr lang="en-US" dirty="0"/>
              <a:t> To understand how CNNs learn image patterns.</a:t>
            </a:r>
          </a:p>
          <a:p>
            <a:pPr lvl="0"/>
            <a:r>
              <a:rPr lang="en-US" b="1" dirty="0"/>
              <a:t>Outcome:</a:t>
            </a:r>
            <a:r>
              <a:rPr lang="en-US" dirty="0"/>
              <a:t> Accuracy improved after tuning.</a:t>
            </a:r>
          </a:p>
          <a:p>
            <a:pPr lvl="0"/>
            <a:r>
              <a:rPr lang="en-US" b="1" dirty="0"/>
              <a:t>Next Step:</a:t>
            </a:r>
            <a:r>
              <a:rPr lang="en-US" dirty="0"/>
              <a:t> Try more complex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36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 &amp; 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Summary:</a:t>
            </a:r>
            <a:endParaRPr lang="en-US" dirty="0"/>
          </a:p>
          <a:p>
            <a:pPr lvl="0"/>
            <a:r>
              <a:rPr lang="en-US" dirty="0"/>
              <a:t>CNNs learn features from images using convolution and pooling layers.</a:t>
            </a:r>
          </a:p>
          <a:p>
            <a:pPr lvl="0"/>
            <a:r>
              <a:rPr lang="en-US" dirty="0" err="1"/>
              <a:t>ResNet</a:t>
            </a:r>
            <a:r>
              <a:rPr lang="en-US" dirty="0"/>
              <a:t> helps train very deep networks using residual connections.</a:t>
            </a:r>
          </a:p>
          <a:p>
            <a:pPr lvl="0"/>
            <a:r>
              <a:rPr lang="en-US" dirty="0"/>
              <a:t>Ethical concern: bias in training data.</a:t>
            </a:r>
          </a:p>
          <a:p>
            <a:pPr lvl="0"/>
            <a:r>
              <a:rPr lang="en-US" dirty="0"/>
              <a:t>Reflection: practical experience improved understanding.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0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References: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954" y="1258186"/>
            <a:ext cx="10515600" cy="49353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He, K., Zhang, X., Ren, S. and Sun, J., 2015. </a:t>
            </a:r>
            <a:r>
              <a:rPr lang="en-US" i="1" dirty="0"/>
              <a:t>Deep Residual Learning for Image Recognition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 preprint arXiv:1512.03385. Available at: </a:t>
            </a:r>
            <a:r>
              <a:rPr lang="en-US" u="sng" dirty="0">
                <a:hlinkClick r:id="rId2"/>
              </a:rPr>
              <a:t>https://go.exlibris.link/1hvjCCTL</a:t>
            </a:r>
            <a:r>
              <a:rPr lang="en-US" dirty="0"/>
              <a:t> [Accessed 13 October 2025</a:t>
            </a:r>
            <a:r>
              <a:rPr lang="en-US" dirty="0" smtClean="0"/>
              <a:t>].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Shivam</a:t>
            </a:r>
            <a:r>
              <a:rPr lang="en-US" dirty="0"/>
              <a:t>. (2021) </a:t>
            </a:r>
            <a:r>
              <a:rPr lang="en-US" i="1" dirty="0"/>
              <a:t>“Convolutional Neural Networks: Understand the Basics”</a:t>
            </a:r>
            <a:r>
              <a:rPr lang="en-US" dirty="0"/>
              <a:t> [Diagram] . Analytics </a:t>
            </a:r>
            <a:r>
              <a:rPr lang="en-US" dirty="0" err="1"/>
              <a:t>Vidhya</a:t>
            </a:r>
            <a:r>
              <a:rPr lang="en-US" dirty="0"/>
              <a:t>. Available at: </a:t>
            </a:r>
            <a:r>
              <a:rPr lang="en-US" dirty="0">
                <a:hlinkClick r:id="rId3"/>
              </a:rPr>
              <a:t>https://editor.analyticsvidhya.com/uploads/75059FC.png</a:t>
            </a:r>
            <a:r>
              <a:rPr lang="en-US" dirty="0"/>
              <a:t> (Accessed: 24 October 2025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He, K., Zhang, X., Ren, S. &amp; Sun, J. (2015) </a:t>
            </a:r>
            <a:r>
              <a:rPr lang="en-US" i="1" dirty="0"/>
              <a:t>“A building block of Residual Learning”</a:t>
            </a:r>
            <a:r>
              <a:rPr lang="en-US" dirty="0"/>
              <a:t> [figure]. In: </a:t>
            </a:r>
            <a:r>
              <a:rPr lang="en-US" i="1" dirty="0"/>
              <a:t>Deep Residual Learning for Image Recognition</a:t>
            </a:r>
            <a:r>
              <a:rPr lang="en-US" dirty="0"/>
              <a:t>. Available at: </a:t>
            </a: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://www.researchgate.net/publication/328091629/figure/fig1/AS:678212644401153@1538709903556/Basic-block-diagram-of-ResNet.ppm</a:t>
            </a:r>
            <a:r>
              <a:rPr lang="en-US" dirty="0"/>
              <a:t> (Accessed: 24 October 2025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3935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204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Understanding Convolutional Neural Networks (CNNs)</vt:lpstr>
      <vt:lpstr> What is a CNN?</vt:lpstr>
      <vt:lpstr>Case Study: Deep Residual Learning</vt:lpstr>
      <vt:lpstr>Why CNNs Were Suitable</vt:lpstr>
      <vt:lpstr>Ethical Issue: Bias in CNNs</vt:lpstr>
      <vt:lpstr>Reflection</vt:lpstr>
      <vt:lpstr>Summary &amp; References</vt:lpstr>
      <vt:lpstr>References: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Convolutional Neural Networks (CNNs)</dc:title>
  <dc:creator>Microsoft account</dc:creator>
  <cp:lastModifiedBy>Microsoft account</cp:lastModifiedBy>
  <cp:revision>19</cp:revision>
  <dcterms:created xsi:type="dcterms:W3CDTF">2025-10-13T22:00:53Z</dcterms:created>
  <dcterms:modified xsi:type="dcterms:W3CDTF">2025-10-29T09:31:37Z</dcterms:modified>
</cp:coreProperties>
</file>